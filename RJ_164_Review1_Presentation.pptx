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Efficient Enumeration of URLs of Active Hidden Servers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 Anonymous Channel (TOR)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Domain: Artificial Intelligence, Cloud Computing   |   SDG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RJ_164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to the Presidency University, Bengaluru in partial fulfillment of the requirements for the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2788920"/>
          <a:ext cx="5943600" cy="1463040"/>
        </p:xfrm>
        <a:graphic>
          <a:graphicData uri="http://schemas.openxmlformats.org/drawingml/2006/table">
            <a:tbl>
              <a:tblPr/>
              <a:tblGrid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Roll Number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NAMRATHA J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20231CSE0410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SRUSHTI MANJUNATH GUGGARI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20231CSE0414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AISHWARYA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20231CSE0419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25196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SHREYA SINGH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487375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510235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Presidency School of Computer Science and Engineering</a:t>
            </a:r>
            <a:endParaRPr lang="en-US" sz="1300" dirty="0"/>
          </a:p>
        </p:txBody>
      </p:sp>
      <p:pic>
        <p:nvPicPr>
          <p:cNvPr id="12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F5F8FC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8016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Tor network's hidden services (.onion sites) are intentionally unindexed and unresolvable via normal DNS, making discovery of active hidden services a persistent challenge for security researchers. This project proposes an AI-augmented, cloud-native system to efficiently enumerate active .onion hidden-service URLs by combining multi-source seed acquisition, a distributed anonymity-preserving Tor crawler, and machine-learning-based mirror/duplicate detection. The system is deployed on an elastic cloud pipeline that scales horizontally, and includes a continuous liveness-check module to keep the enumerated dataset current despite the network's rapid churn. The objective is to achieve wider network coverage, reduced redundant crawling, and a scalable architecture suitable for continuous dark-web monitoring — contributing to SDG 9 (Industry, Innovation and Infrastructure) by strengthening digital infrastructure security tools.</a:t>
            </a:r>
            <a:endParaRPr lang="en-US" sz="1600" dirty="0"/>
          </a:p>
        </p:txBody>
      </p:sp>
      <p:pic>
        <p:nvPicPr>
          <p:cNvPr id="5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 multi-channel seed-acquisition module that collects candidate .onion addresses from at least 3 independent sources (onion search engines, surface-web forums, threat-intel feeds).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distributed Tor crawler capable of concurrently traversing hidden-service links while preserving anonymity and handling CAPTCHA/anti-bot defenses.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ML-based similarity/deduplication model that identifies mirror/duplicate onion sites with higher accuracy than heuristic baselines reported in existing literature.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 the full pipeline on an elastic, containerized cloud architecture capable of horizontal scaling as discovered-address volume grows.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a continuous liveness-verification module that re-checks enumerated URLs at regular intervals to maintain an up-to-date active-service dataset.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system on measurable outcomes: unique-service coverage per seed, reduction in redundant/mirror crawls, and crawl throughput under scaling.</a:t>
            </a:r>
            <a:endParaRPr lang="en-US" sz="1400" dirty="0"/>
          </a:p>
        </p:txBody>
      </p:sp>
      <p:pic>
        <p:nvPicPr>
          <p:cNvPr id="4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— 10 Papers Reviewed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/ Scopus-indexed / arXiv sources, 2024–2026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5029200"/>
        </p:xfrm>
        <a:graphic>
          <a:graphicData uri="http://schemas.openxmlformats.org/drawingml/2006/table">
            <a:tbl>
              <a:tblPr/>
              <a:tblGrid>
                <a:gridCol w="457200"/>
                <a:gridCol w="3931920"/>
                <a:gridCol w="2468880"/>
                <a:gridCol w="4754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/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Snorkeling in Dark Waters (Mimir)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TIFS,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Forum-based seeding + mirror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CRATOR: A CRAwler for 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ESORICS, 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CAPTCHA-aware crawling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Dizzy: Large-Scale Crawling of Onion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arXiv, 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high-throughput crawling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Big Data Architecture for Dark Web Site Identification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Gen. Comp. Sys., 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Cloud-scale (Kubernetes/Kafka) discovery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ATOL / LIGHTS: Large-Scale Onion Topic Labeling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SIGKDD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classification of crawled onion sites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Deanonymization of Hidden Services Categorized on Tor Darknet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Springer,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compilation via darknet scraping + Shodan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of Tor Malware and Onion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extraction via malware sandboxing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DarkFusionNet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KSEM, 2025/26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neural network for darknet content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Open-World Darknet Traffic Recognition (Leave-One-Service-Out)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arXiv, Aug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Generalization failure of classifiers on unseen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DL Framework for Profiling Darknet Traffic (CNN+BiLSTM)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MDPI, Feb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Traffic-based darknet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1: Snorkeling in Dark Waters (Mimir)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Transactions on Information Forensics and Security (TIFS), 2025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the crawler using trending topics mined from surface-web underground forums, then applies heuristic-based mirror detection to remove duplicate onion pages.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Results: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approximately 82% of crawled onion pages were mirrors/duplicates of already-known services, and forum-based seeding improved coverage of previously unseen services compared to static seed lists.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BEAEA"/>
          </a:solidFill>
          <a:ln w="12700">
            <a:solidFill>
              <a:srgbClr val="DD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Could NOT Achieve (Limitation):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detection relies on hand-crafted heuristics, not a learned model — it is brittle when sites deliberately vary their content slightly to evade duplicate detection.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E9F5EA"/>
          </a:solidFill>
          <a:ln w="12700">
            <a:solidFill>
              <a:srgbClr val="99C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34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Project Addresses This: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replaces heuristic mirror detection with an ML/embedding-based similarity model (e.g., trained on content + structural features), making deduplication robust to intentional content variation.</a:t>
            </a:r>
            <a:endParaRPr lang="en-US" sz="1250" dirty="0"/>
          </a:p>
        </p:txBody>
      </p:sp>
      <p:pic>
        <p:nvPicPr>
          <p:cNvPr id="14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2: CRATOR — A CRAwler for TOR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ESORICS 2024 (European Symposium on Research in Computer Security)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seed-list-driven crawler combined with link analysis and CAPTCHA-solving, plus proxy/user-agent rotation, to keep crawling active hidden services without being blocked.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Results: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successful bypass of CAPTCHA and bot-detection mechanisms on a significant share of tested onion services, sustaining longer continuous crawl sessions than baseline crawlers.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BEAEA"/>
          </a:solidFill>
          <a:ln w="12700">
            <a:solidFill>
              <a:srgbClr val="DD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Could NOT Achieve (Limitation):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a static, manually maintained seed list — once those seeds are exhausted, coverage plateaus and new, unlinked services are missed.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E9F5EA"/>
          </a:solidFill>
          <a:ln w="12700">
            <a:solidFill>
              <a:srgbClr val="99C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34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Project Addresses This: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adds a multi-channel, continuously refreshed seed acquisition module (search engines + forums + threat-intel feeds) so seed exhaustion is no longer a hard limit on coverage.</a:t>
            </a:r>
            <a:endParaRPr lang="en-US" sz="1250" dirty="0"/>
          </a:p>
        </p:txBody>
      </p:sp>
      <p:pic>
        <p:nvPicPr>
          <p:cNvPr id="14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3: Dizzy — Large-Scale Crawling and Analysis of Onion Services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Open-access (arXiv)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 distributed cluster of Tor clients and rendering engines running in parallel to crawl onion services at high throughput, discovering new addresses organically through followed links.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Results: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a crawl rate of roughly 30 onion pages per minute per crawler node, and scaled linearly by adding more nodes to the cluster.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FBEAEA"/>
          </a:solidFill>
          <a:ln w="12700">
            <a:solidFill>
              <a:srgbClr val="DD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Could NOT Achieve (Limitation):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depends entirely on organically-found links during crawling — it does not actively pull in external seed sources, so isolated or lightly-linked services are under-represented.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E9F5EA"/>
          </a:solidFill>
          <a:ln w="12700">
            <a:solidFill>
              <a:srgbClr val="99C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434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Project Addresses This: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combines Dizzy's distributed crawling approach for throughput with active multi-channel seed injection, so the system gets both scale AND wider network coverage, not just one or the other.</a:t>
            </a:r>
            <a:endParaRPr lang="en-US" sz="1250" dirty="0"/>
          </a:p>
        </p:txBody>
      </p:sp>
      <p:pic>
        <p:nvPicPr>
          <p:cNvPr id="14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Methods and Drawbacks (Remaining Papers)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612880" cy="5029200"/>
        </p:xfrm>
        <a:graphic>
          <a:graphicData uri="http://schemas.openxmlformats.org/drawingml/2006/table">
            <a:tbl>
              <a:tblPr/>
              <a:tblGrid>
                <a:gridCol w="3017520"/>
                <a:gridCol w="475488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Data Architecture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Kubernetes/Kafka/Kubeflow pipeline for near-real-time onion discovery + BERTopic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Modest throughput (~2,066 services/week) relative to heavy infra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ATOL / LIGHTS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Large-scale crawl (100M+ pages) + automated topic labeling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classification after crawling, not on improving enumeration efficiency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Deanonymization of Hidden Services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Compiles addresses via darknet scraping + Shodan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Small-scale evaluation; scraping approach not detailed enough to be reproducible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of Tor Malware &amp; Onion Services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Extracts onion URLs by sandboxing malware and mining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seed source — only surfaces addresses malware authors hardcode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DarkFusionNet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neural network for darknet text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 classifier only — needs already-crawled content, doesn't discover new URLs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Open-World Darknet Traffic Recognition (2026)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classifier generalization to unseen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drops sharply (e.g., 87%→46%) on services not seen in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— Core Comparison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11430000" cy="292608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32004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Project's 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Mimir (TIFS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Forum-based seeding; mirror detection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Heuristic, not learned, deduplication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similarity model for mirrors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CRATOR (ESORICS 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Bypasses CAPTCHA/anti-bot defenses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seed list; coverage plateaus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Multi-channel, continuously refreshed seeds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Dizzy (arXiv)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High-throughput distributed crawling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only on organically found links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distributed crawling + active seeding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4114800"/>
            <a:ext cx="11430000" cy="109728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" y="4206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Gap Across Reviewed Papers: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44805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optimizes only ONE stage of the pipeline (seeding, evasion, throughput, or classification) in isolation. No reviewed system unifies multi-channel seed discovery + anonymity-preserving crawling + ML-based deduplication + elastic scaling — which is exactly what our project delivers.</a:t>
            </a:r>
            <a:endParaRPr lang="en-US" sz="1200" dirty="0"/>
          </a:p>
        </p:txBody>
      </p:sp>
      <p:pic>
        <p:nvPicPr>
          <p:cNvPr id="7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Faced in Project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sufficient coverage of the Tor network from a limited, single-source seed list.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CAPTCHAs and anti-bot/anti-crawling defenses without breaking Tor anonymity guarantees.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near-duplicate mirror sites accurately, since heuristic methods are brittle to minor content changes.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crawling and verification pipeline cost-efficiently on cloud infrastructure.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constant churn of hidden services — addresses appear and disappear rapidly, quickly making static datasets stale.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ethical, research-only use of enumeration for defensive/threat-intelligence purposes.</a:t>
            </a:r>
            <a:endParaRPr lang="en-US" sz="1600" dirty="0"/>
          </a:p>
        </p:txBody>
      </p:sp>
      <p:pic>
        <p:nvPicPr>
          <p:cNvPr id="4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Method &amp; Feasibility Study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pipeline combining multi-channel seed acquisition, distributed anonymity-preserving crawling, ML-based mirror deduplication, and continuous liveness verification — deployed on an elastic cloud architecture.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Feasibility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mature, open-source technologies: Tor client libraries, Python-based crawling frameworks, standard ML libraries (scikit-learn/PyTorch) for similarity detection, and container orchestration (Docker/Kubernetes) — no experimental or unavailable technology required.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70AD47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Feasibility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free/open-source software throughout; cloud costs are limited to compute instances for crawling and storage, which can start small (single-node) and scale only as needed — avoiding large upfront infrastructure spend.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210312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ED7D3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Feasibility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9260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scope is achievable within the academic project timeline by a team of 3, using freely available datasets/seed sources and standard college lab/cloud-credit resources for development and testing.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proposed solution is technically achievable, cost-effective, and realistically scoped for the project timeline.</a:t>
            </a:r>
            <a:endParaRPr lang="en-US" sz="1300" dirty="0"/>
          </a:p>
        </p:txBody>
      </p:sp>
      <p:pic>
        <p:nvPicPr>
          <p:cNvPr id="15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Acquisition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28016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24912" y="12801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70AD47"/>
          </a:solidFill>
          <a:ln/>
        </p:spPr>
      </p:sp>
      <p:sp>
        <p:nvSpPr>
          <p:cNvPr id="7" name="Text 5"/>
          <p:cNvSpPr/>
          <p:nvPr/>
        </p:nvSpPr>
        <p:spPr>
          <a:xfrm>
            <a:off x="2724912" y="12801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Crawler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90872" y="128016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46904" y="12801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D7D31"/>
          </a:solidFill>
          <a:ln/>
        </p:spPr>
      </p:sp>
      <p:sp>
        <p:nvSpPr>
          <p:cNvPr id="10" name="Text 8"/>
          <p:cNvSpPr/>
          <p:nvPr/>
        </p:nvSpPr>
        <p:spPr>
          <a:xfrm>
            <a:off x="4946904" y="12801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12864" y="128016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168896" y="12801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9E480E"/>
          </a:solidFill>
          <a:ln/>
        </p:spPr>
      </p:sp>
      <p:sp>
        <p:nvSpPr>
          <p:cNvPr id="13" name="Text 11"/>
          <p:cNvSpPr/>
          <p:nvPr/>
        </p:nvSpPr>
        <p:spPr>
          <a:xfrm>
            <a:off x="7168896" y="12801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Cloud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34856" y="128016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4444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390888" y="12801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55E91"/>
          </a:solidFill>
          <a:ln/>
        </p:spPr>
      </p:sp>
      <p:sp>
        <p:nvSpPr>
          <p:cNvPr id="16" name="Text 14"/>
          <p:cNvSpPr/>
          <p:nvPr/>
        </p:nvSpPr>
        <p:spPr>
          <a:xfrm>
            <a:off x="9390888" y="128016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candidate onion URLs are sourced from multiple channels, crawled concurrently through Tor, filtered for duplicate mirrors using ML, and continuously re-checked for liveness — all running on a horizontally scalable cloud pipeline.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Technologies: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AI/ML: Similarity/embedding-based mirror detection, content classification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Containerized microservices, elastic worker pools for crawling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Networking: Tor client integration for anonymity-preserving requests</a:t>
            </a:r>
            <a:endParaRPr lang="en-US" sz="1300" dirty="0"/>
          </a:p>
        </p:txBody>
      </p:sp>
      <p:pic>
        <p:nvPicPr>
          <p:cNvPr id="20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Modules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060704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060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Acquisition Module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candidate .onion addresses from onion search engines, surface-web forums, and threat-intel feeds; normalizes and queues them for crawling.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63640" y="89611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060704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060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1005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Crawler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3716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through Tor to visit candidate addresses concurrently across multiple worker nodes, follows discovered links, and handles CAPTCHA/anti-bot defenses.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235915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23744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2468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Module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28346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an ML-based similarity model to compare newly crawled pages against known ones and filters out mirror/duplicate sites.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235915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2523744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2468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Verification Module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28346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re-visits enumerated URLs to confirm which services are still active and updates the dataset accordingly.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82219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986784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3931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Orchestration Module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42976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containerized deployment of all modules, scaling worker pools up or down based on crawl workload.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263640" y="382219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5F8FC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3986784"/>
            <a:ext cx="502920" cy="502920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30" name="Text 28"/>
          <p:cNvSpPr/>
          <p:nvPr/>
        </p:nvSpPr>
        <p:spPr>
          <a:xfrm>
            <a:off x="6428232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3931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Reporting Module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2976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enumerated URLs, metadata, and liveness status; generates summary reports/dashboards of discovered active services.</a:t>
            </a:r>
            <a:endParaRPr lang="en-US" sz="1080" dirty="0"/>
          </a:p>
        </p:txBody>
      </p:sp>
      <p:pic>
        <p:nvPicPr>
          <p:cNvPr id="33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and Software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Technologies: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Language: Python 3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Layer: Tor client (stem/PySocks) for .onion access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 Framework: Scrapy / custom asynchronous crawler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scikit-learn / PyTorch (for similarity &amp; mirror detection)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 Orchestration: Docker, Kubernetes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Storage: PostgreSQL / MongoDB for URL and metadata storage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Platform: AWS / GCP / Azure (elastic compute + storage)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Infrastructure Requirements: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machine: 8GB+ RAM, multi-core CPU for local testing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compute instances: scalable VM/container instances for crawler worker nodes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storage: for persisting enumerated URL datasets and logs</a:t>
            </a:r>
            <a:endParaRPr lang="en-US" sz="1300" dirty="0"/>
          </a:p>
        </p:txBody>
      </p:sp>
      <p:pic>
        <p:nvPicPr>
          <p:cNvPr id="7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Timeline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46120" y="731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17720" y="731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89320" y="731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60920" y="731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732520" y="731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104120" y="731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75720" y="731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0" cy="3895344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0" cy="3895344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05840"/>
            <a:ext cx="0" cy="3895344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005840"/>
            <a:ext cx="0" cy="3895344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1005840"/>
            <a:ext cx="0" cy="3895344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1005840"/>
            <a:ext cx="0" cy="3895344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12880" y="1005840"/>
            <a:ext cx="0" cy="3895344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051560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Problem Analysis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1106424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1F5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52704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11980" y="1581912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1F5FA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002536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Acquisition Module Development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40680" y="2057400"/>
            <a:ext cx="1714500" cy="329184"/>
          </a:xfrm>
          <a:prstGeom prst="roundRect">
            <a:avLst>
              <a:gd name="adj" fmla="val 11111"/>
            </a:avLst>
          </a:prstGeom>
          <a:solidFill>
            <a:srgbClr val="1F5FA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47802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Module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532888"/>
            <a:ext cx="2057400" cy="329184"/>
          </a:xfrm>
          <a:prstGeom prst="roundRect">
            <a:avLst>
              <a:gd name="adj" fmla="val 11111"/>
            </a:avLst>
          </a:prstGeom>
          <a:solidFill>
            <a:srgbClr val="1F5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953512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Deduplication Model Training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0" y="3008376"/>
            <a:ext cx="1714500" cy="329184"/>
          </a:xfrm>
          <a:prstGeom prst="roundRect">
            <a:avLst>
              <a:gd name="adj" fmla="val 11111"/>
            </a:avLst>
          </a:prstGeom>
          <a:solidFill>
            <a:srgbClr val="1F5FA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429000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&amp;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26780" y="3483864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1F5FA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90448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Liveness Verification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12580" y="3959352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1F5FA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379976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Presentation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241280" y="4434840"/>
            <a:ext cx="1028700" cy="329184"/>
          </a:xfrm>
          <a:prstGeom prst="roundRect">
            <a:avLst>
              <a:gd name="adj" fmla="val 11111"/>
            </a:avLst>
          </a:prstGeom>
          <a:solidFill>
            <a:srgbClr val="1F5FA8"/>
          </a:solidFill>
          <a:ln/>
        </p:spPr>
      </p:sp>
      <p:pic>
        <p:nvPicPr>
          <p:cNvPr id="33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Multi-channel seed acquisition is expected to increase unique-service coverage per seed compared to single-source crawlers.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Deduplication: ML-based mirror filtering reduces redundant crawling by identifying near-duplicate onion pages more reliably than heuristic methods.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The elastic cloud pipeline supports horizontal scaling to handle growing address volumes without proportionally increasing cost.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 Continuous liveness verification keeps the enumerated dataset up to date despite rapid service churn.</a:t>
            </a:r>
            <a:endParaRPr lang="en-US" sz="1600" dirty="0"/>
          </a:p>
        </p:txBody>
      </p:sp>
      <p:pic>
        <p:nvPicPr>
          <p:cNvPr id="4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Combining multiple seed channels and ML deduplication improves crawl efficiency over prior single-channel approaches.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Recent 2026 research shows static classifiers degrade sharply on unseen services — reinforcing the need for continuous re-enumeration rather than a one-time trained system.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Use: Positioned strictly for threat-intelligence, research, and monitoring purposes — not for accessing or interacting with illicit content.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Crawl coverage still depends on link reachability; fully isolated or invite-only hidden services remain difficult to enumerate.</a:t>
            </a:r>
            <a:endParaRPr lang="en-US" sz="1600" dirty="0"/>
          </a:p>
        </p:txBody>
      </p:sp>
      <p:pic>
        <p:nvPicPr>
          <p:cNvPr id="4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"Snorkeling in Dark Waters: A Longitudinal Surface Exploration of Unique Tor Hidden Services," IEEE Trans. Inf. Forensics Security, 2025.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"CRATOR: A CRAwler for TOR — Turning Dark Web Pages into Open Source Intelligence," in Proc. ESORICS, 2024.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"Dizzy: Large-Scale Crawling and Analysis of Onion Services," arXiv preprint, 2024.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"A Big Data Architecture for Early Identification and Categorization of Dark Web Sites," Future Generation Computer Systems, 2024.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"ATOL: A Framework for Automated Analysis and Categorization of the Darkweb Ecosystem," in Proc. ACM SIGKDD.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"Deanonymization of Hidden Services Categorized on Tor Darknet," in Proc. Int. Conf. Blockchain, Springer, 2025.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Bergman and Popov, "Recognition of Tor Malware and Onion Services," 2024.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"DarkFusionNet: A Fusion Neural Network for Darknet Content Classification," in Proc. KSEM, Springer, 2025/2026.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"Open-World Darknet Traffic Recognition Under Leave-One-Service-Out Evaluation," arXiv preprint, Aug. 2026.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"An Intelligent Deep Learning Framework for Identifying and Profiling Darknet Traffic," MDPI Electronics/Sensors, Feb. 2026.</a:t>
            </a:r>
            <a:endParaRPr lang="en-US" sz="1150" dirty="0"/>
          </a:p>
        </p:txBody>
      </p:sp>
      <p:pic>
        <p:nvPicPr>
          <p:cNvPr id="4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5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 &amp; A</a:t>
            </a:r>
            <a:endParaRPr lang="en-US" sz="4400" dirty="0"/>
          </a:p>
        </p:txBody>
      </p:sp>
      <p:pic>
        <p:nvPicPr>
          <p:cNvPr id="3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8B1E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 !!</a:t>
            </a:r>
            <a:endParaRPr lang="en-US" sz="4400" dirty="0"/>
          </a:p>
        </p:txBody>
      </p:sp>
      <p:pic>
        <p:nvPicPr>
          <p:cNvPr id="3" name="Image 0" descr="/home/claude/work/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26009"/>
            <a:ext cx="12188952" cy="1531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5954845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2026-08-25T05:34:07Z</dcterms:created>
  <dcterms:modified xsi:type="dcterms:W3CDTF">2026-08-25T05:34:07Z</dcterms:modified>
</cp:coreProperties>
</file>